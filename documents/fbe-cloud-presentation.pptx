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4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FD4"/>
    <a:srgbClr val="8B9C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98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2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dirty="0"/>
              <a:t>1 / </a:t>
            </a:r>
            <a:r>
              <a:rPr lang="ru-RU" dirty="0"/>
              <a:t>7</a:t>
            </a:r>
            <a:endParaRPr dirty="0"/>
          </a:p>
        </p:txBody>
      </p:sp>
      <p:pic>
        <p:nvPicPr>
          <p:cNvPr id="10" name="Picture 9" descr="logo_FBE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480" y="1234440"/>
            <a:ext cx="4480560" cy="28454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637851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EDF4"/>
                </a:solidFill>
                <a:latin typeface="Segoe UI"/>
              </a:defRPr>
            </a:pPr>
            <a:r>
              <a:rPr dirty="0" err="1"/>
              <a:t>Учебные</a:t>
            </a:r>
            <a:r>
              <a:rPr dirty="0"/>
              <a:t> </a:t>
            </a:r>
            <a:r>
              <a:rPr dirty="0" err="1"/>
              <a:t>материалы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рукой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5460811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B9CB3"/>
                </a:solidFill>
                <a:latin typeface="Segoe UI"/>
              </a:defRPr>
            </a:pPr>
            <a:r>
              <a:t>FBE cloud — облако для конспектов, файлов курсов и совместной работы студентов.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dirty="0"/>
              <a:t>2 / 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rPr dirty="0"/>
              <a:t>О </a:t>
            </a:r>
            <a:r>
              <a:rPr dirty="0" err="1"/>
              <a:t>проекте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083943" y="1206567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CB3"/>
                </a:solidFill>
                <a:latin typeface="Segoe UI"/>
              </a:defRPr>
            </a:pPr>
            <a:r>
              <a:rPr dirty="0" err="1"/>
              <a:t>Веб-платформа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и </a:t>
            </a:r>
            <a:r>
              <a:rPr dirty="0" err="1"/>
              <a:t>обмена</a:t>
            </a:r>
            <a:r>
              <a:rPr dirty="0"/>
              <a:t> </a:t>
            </a:r>
            <a:r>
              <a:rPr dirty="0" err="1"/>
              <a:t>учебными</a:t>
            </a:r>
            <a:r>
              <a:rPr dirty="0"/>
              <a:t> </a:t>
            </a:r>
            <a:r>
              <a:rPr dirty="0" err="1"/>
              <a:t>материалами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месте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63194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872922"/>
            <a:ext cx="1051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rPr dirty="0" err="1"/>
              <a:t>Задача</a:t>
            </a:r>
            <a:endParaRPr dirty="0"/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rPr dirty="0" err="1"/>
              <a:t>Разрозненные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в </a:t>
            </a:r>
            <a:r>
              <a:rPr dirty="0" err="1"/>
              <a:t>мессенджерах</a:t>
            </a:r>
            <a:r>
              <a:rPr dirty="0"/>
              <a:t> и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дисках</a:t>
            </a:r>
            <a:r>
              <a:rPr dirty="0"/>
              <a:t> </a:t>
            </a:r>
            <a:r>
              <a:rPr dirty="0" err="1"/>
              <a:t>сложно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и </a:t>
            </a:r>
            <a:r>
              <a:rPr dirty="0" err="1"/>
              <a:t>делить</a:t>
            </a:r>
            <a:r>
              <a:rPr dirty="0"/>
              <a:t> с </a:t>
            </a:r>
            <a:r>
              <a:rPr dirty="0" err="1"/>
              <a:t>одногруппниками</a:t>
            </a:r>
            <a:r>
              <a:rPr dirty="0"/>
              <a:t>. FBE cloud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личное</a:t>
            </a:r>
            <a:r>
              <a:rPr dirty="0"/>
              <a:t> </a:t>
            </a:r>
            <a:r>
              <a:rPr dirty="0" err="1"/>
              <a:t>хранилище</a:t>
            </a:r>
            <a:r>
              <a:rPr dirty="0"/>
              <a:t>, </a:t>
            </a:r>
            <a:r>
              <a:rPr dirty="0" err="1"/>
              <a:t>общее</a:t>
            </a:r>
            <a:r>
              <a:rPr dirty="0"/>
              <a:t> </a:t>
            </a:r>
            <a:r>
              <a:rPr dirty="0" err="1"/>
              <a:t>облако</a:t>
            </a:r>
            <a:r>
              <a:rPr dirty="0"/>
              <a:t> и </a:t>
            </a:r>
            <a:r>
              <a:rPr dirty="0" err="1"/>
              <a:t>социальные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lang="en-US" dirty="0"/>
              <a:t>3 </a:t>
            </a:r>
            <a:r>
              <a:rPr dirty="0"/>
              <a:t>/ 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Технологии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82750"/>
            <a:ext cx="5212080" cy="315346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92478"/>
            <a:ext cx="4937760" cy="63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rPr dirty="0"/>
              <a:t>Backend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rPr dirty="0"/>
              <a:t>• Python,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Uvicorn</a:t>
            </a:r>
            <a:br>
              <a:rPr dirty="0"/>
            </a:br>
            <a:r>
              <a:rPr dirty="0"/>
              <a:t>•</a:t>
            </a:r>
            <a:r>
              <a:rPr lang="ru-RU" dirty="0"/>
              <a:t> </a:t>
            </a:r>
            <a:r>
              <a:rPr dirty="0"/>
              <a:t>SQLite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82750"/>
            <a:ext cx="5212080" cy="315346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792478"/>
            <a:ext cx="4937760" cy="63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rPr dirty="0"/>
              <a:t>Frontend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Шаблоны</a:t>
            </a:r>
            <a:r>
              <a:rPr dirty="0"/>
              <a:t> Jinja2</a:t>
            </a:r>
            <a:br>
              <a:rPr dirty="0"/>
            </a:br>
            <a:r>
              <a:rPr dirty="0"/>
              <a:t>• CSS custom properties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lang="en-US" dirty="0"/>
              <a:t>4</a:t>
            </a:r>
            <a:r>
              <a:rPr dirty="0"/>
              <a:t> / 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Основные разделы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6657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76298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Мои файлы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Личное облако: загрузка, предпросмотр, фильтры и управление своими материалами.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6657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876298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Общее облако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Общая библиотека файлов для всех пользователей с поиском и фильтрацией.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4109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717810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Друзья и чат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Добавление друзей и обмен сообщениями внутри платформы.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64109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3750818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События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Экзамены, зачёты и мероприятия — открытые и закрытые, с датами и описанием.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lang="en-US" dirty="0"/>
              <a:t>5</a:t>
            </a:r>
            <a:r>
              <a:rPr dirty="0"/>
              <a:t> / 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Аккаунты и безопасность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74521"/>
            <a:ext cx="10789920" cy="1554480"/>
          </a:xfrm>
          <a:prstGeom prst="roundRect">
            <a:avLst>
              <a:gd name="adj" fmla="val 13103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6280" y="2013912"/>
            <a:ext cx="10515600" cy="1123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8B9CB3"/>
                </a:solidFill>
                <a:latin typeface="Segoe UI"/>
              </a:defRPr>
            </a:pPr>
            <a:r>
              <a:rPr lang="ru-RU" dirty="0">
                <a:solidFill>
                  <a:srgbClr val="8B9CB3"/>
                </a:solidFill>
              </a:rPr>
              <a:t>Регистрация и вход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8B9CB3"/>
                </a:solidFill>
                <a:latin typeface="Segoe UI"/>
              </a:defRPr>
            </a:pPr>
            <a:r>
              <a:rPr lang="ru-RU" dirty="0">
                <a:solidFill>
                  <a:srgbClr val="8B9CB3"/>
                </a:solidFill>
              </a:rPr>
              <a:t>Подтверждение </a:t>
            </a:r>
            <a:r>
              <a:rPr lang="ru-RU" dirty="0" err="1">
                <a:solidFill>
                  <a:srgbClr val="8B9CB3"/>
                </a:solidFill>
              </a:rPr>
              <a:t>e-mail</a:t>
            </a:r>
            <a:endParaRPr lang="ru-RU" dirty="0">
              <a:solidFill>
                <a:srgbClr val="8B9CB3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8B9CB3"/>
                </a:solidFill>
                <a:latin typeface="Segoe UI"/>
              </a:defRPr>
            </a:pPr>
            <a:r>
              <a:rPr lang="ru-RU" dirty="0">
                <a:solidFill>
                  <a:srgbClr val="8B9CB3"/>
                </a:solidFill>
              </a:rPr>
              <a:t>Хэширование пароля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8B9CB3"/>
                </a:solidFill>
                <a:latin typeface="Segoe UI"/>
              </a:defRPr>
            </a:pPr>
            <a:r>
              <a:rPr lang="ru-RU" dirty="0">
                <a:solidFill>
                  <a:srgbClr val="8B9CB3"/>
                </a:solidFill>
              </a:rPr>
              <a:t>Роли персонала и панель администратора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lang="en-US" dirty="0"/>
              <a:t>4</a:t>
            </a:r>
            <a:r>
              <a:rPr dirty="0"/>
              <a:t> / 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rPr lang="ru-RU" dirty="0"/>
              <a:t>Сложности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85800" y="1678928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88656"/>
            <a:ext cx="49377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rPr lang="ru-RU" sz="1200" b="1" dirty="0">
                <a:solidFill>
                  <a:srgbClr val="5B9FD4"/>
                </a:solidFill>
                <a:latin typeface="Segoe UI"/>
              </a:rPr>
              <a:t>Хранение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rPr lang="ru-RU" sz="1000" dirty="0">
                <a:solidFill>
                  <a:srgbClr val="8B9CB3"/>
                </a:solidFill>
                <a:latin typeface="Segoe UI"/>
              </a:rPr>
              <a:t>Необходимо создать базу данных для хранения больших объемов данных.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78928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788656"/>
            <a:ext cx="49377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rPr lang="ru-RU" sz="1200" b="1" dirty="0">
                <a:solidFill>
                  <a:srgbClr val="5B9FD4"/>
                </a:solidFill>
                <a:latin typeface="Segoe UI"/>
              </a:rPr>
              <a:t>Поиск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rPr lang="ru-RU" sz="1000" dirty="0">
                <a:solidFill>
                  <a:srgbClr val="8B9CB3"/>
                </a:solidFill>
                <a:latin typeface="Segoe UI"/>
              </a:rPr>
              <a:t>При больших объемах данных поиск затруднен.</a:t>
            </a:r>
          </a:p>
        </p:txBody>
      </p:sp>
    </p:spTree>
    <p:extLst>
      <p:ext uri="{BB962C8B-B14F-4D97-AF65-F5344CB8AC3E}">
        <p14:creationId xmlns:p14="http://schemas.microsoft.com/office/powerpoint/2010/main" val="3318126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lang="en-US" dirty="0"/>
              <a:t>6</a:t>
            </a:r>
            <a:r>
              <a:rPr dirty="0"/>
              <a:t> / 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Работа с файлами</a:t>
            </a: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CCBF1DF9-7B33-C9E3-0162-B38356D58B80}"/>
              </a:ext>
            </a:extLst>
          </p:cNvPr>
          <p:cNvSpPr/>
          <p:nvPr/>
        </p:nvSpPr>
        <p:spPr>
          <a:xfrm>
            <a:off x="685800" y="1766979"/>
            <a:ext cx="11201400" cy="29879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2D9AF6-E4C1-D468-01C8-13EB8DF72B7E}"/>
              </a:ext>
            </a:extLst>
          </p:cNvPr>
          <p:cNvSpPr txBox="1"/>
          <p:nvPr/>
        </p:nvSpPr>
        <p:spPr>
          <a:xfrm>
            <a:off x="822960" y="1876707"/>
            <a:ext cx="10789920" cy="6976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rPr lang="ru-RU" dirty="0">
                <a:solidFill>
                  <a:srgbClr val="5B9FD4"/>
                </a:solidFill>
              </a:rPr>
              <a:t>Метод хранения</a:t>
            </a:r>
          </a:p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rPr lang="ru-RU" dirty="0">
                <a:solidFill>
                  <a:srgbClr val="8B9CB3"/>
                </a:solidFill>
              </a:rPr>
              <a:t>За основу был </a:t>
            </a:r>
            <a:r>
              <a:rPr lang="ru-RU" dirty="0" err="1">
                <a:solidFill>
                  <a:srgbClr val="8B9CB3"/>
                </a:solidFill>
              </a:rPr>
              <a:t>всзят</a:t>
            </a:r>
            <a:r>
              <a:rPr lang="ru-RU" dirty="0">
                <a:solidFill>
                  <a:srgbClr val="8B9CB3"/>
                </a:solidFill>
              </a:rPr>
              <a:t> метод хранения данных </a:t>
            </a:r>
            <a:r>
              <a:rPr lang="en-US" dirty="0">
                <a:solidFill>
                  <a:srgbClr val="8B9CB3"/>
                </a:solidFill>
              </a:rPr>
              <a:t>Amazon S3</a:t>
            </a:r>
            <a:r>
              <a:rPr lang="ru-RU" dirty="0">
                <a:solidFill>
                  <a:srgbClr val="8B9CB3"/>
                </a:solidFill>
              </a:rPr>
              <a:t>, который позволяет хранить большие файлы отдельно, </a:t>
            </a:r>
            <a:r>
              <a:rPr lang="ru-RU" dirty="0" err="1">
                <a:solidFill>
                  <a:srgbClr val="8B9CB3"/>
                </a:solidFill>
              </a:rPr>
              <a:t>упрошает</a:t>
            </a:r>
            <a:r>
              <a:rPr lang="ru-RU" dirty="0">
                <a:solidFill>
                  <a:srgbClr val="8B9CB3"/>
                </a:solidFill>
              </a:rPr>
              <a:t> поиск и позволяет хранить дубликаты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20405" y="201168"/>
            <a:ext cx="46679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rPr lang="ru-RU" dirty="0"/>
              <a:t>7</a:t>
            </a:r>
            <a:r>
              <a:rPr dirty="0"/>
              <a:t> / </a:t>
            </a:r>
            <a:r>
              <a:rPr lang="ru-RU" dirty="0"/>
              <a:t>7</a:t>
            </a:r>
            <a:endParaRPr dirty="0"/>
          </a:p>
        </p:txBody>
      </p:sp>
      <p:pic>
        <p:nvPicPr>
          <p:cNvPr id="10" name="Picture 9" descr="logo_FBE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2112" y="1682149"/>
            <a:ext cx="4677295" cy="29703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404055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EDF4"/>
                </a:solidFill>
                <a:latin typeface="Segoe UI"/>
              </a:defRPr>
            </a:pPr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lang="ru-RU" dirty="0"/>
              <a:t>!</a:t>
            </a:r>
            <a:endParaRPr dirty="0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6620CEE2-A6BE-C56C-D287-E1858FE70702}"/>
              </a:ext>
            </a:extLst>
          </p:cNvPr>
          <p:cNvSpPr txBox="1"/>
          <p:nvPr/>
        </p:nvSpPr>
        <p:spPr>
          <a:xfrm>
            <a:off x="2589773" y="6147819"/>
            <a:ext cx="447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Демо версия сайта</a:t>
            </a:r>
            <a:endParaRPr lang="en-US" dirty="0">
              <a:solidFill>
                <a:schemeClr val="bg1">
                  <a:lumMod val="95000"/>
                </a:schemeClr>
              </a:solidFill>
              <a:latin typeface="Ink Free" panose="03080402000500000000" pitchFamily="66" charset="0"/>
            </a:endParaRPr>
          </a:p>
        </p:txBody>
      </p:sp>
      <p:pic>
        <p:nvPicPr>
          <p:cNvPr id="7" name="Picture 4" descr="Белая стрелка без фона Изображения – скачать бесплатно на Freepik">
            <a:extLst>
              <a:ext uri="{FF2B5EF4-FFF2-40B4-BE49-F238E27FC236}">
                <a16:creationId xmlns:a16="http://schemas.microsoft.com/office/drawing/2014/main" id="{BF7CE7A3-F1EC-6AC8-C66C-FB568430A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9595" y1="43243" x2="72162" y2="49865"/>
                        <a14:foregroundMark x1="72162" y1="49865" x2="75000" y2="57297"/>
                        <a14:foregroundMark x1="75000" y1="57297" x2="56757" y2="71892"/>
                        <a14:foregroundMark x1="56757" y1="71892" x2="65811" y2="71622"/>
                        <a14:foregroundMark x1="65811" y1="71622" x2="77432" y2="58378"/>
                        <a14:foregroundMark x1="77432" y1="58378" x2="79595" y2="49054"/>
                        <a14:foregroundMark x1="79595" y1="49054" x2="70676" y2="43108"/>
                        <a14:foregroundMark x1="70676" y1="43108" x2="61486" y2="40000"/>
                        <a14:foregroundMark x1="61486" y1="40000" x2="60405" y2="43919"/>
                        <a14:backgroundMark x1="70428" y1="68609" x2="77432" y2="64189"/>
                        <a14:backgroundMark x1="77432" y1="64189" x2="83649" y2="54459"/>
                        <a14:backgroundMark x1="80190" y1="47320" x2="79459" y2="45811"/>
                        <a14:backgroundMark x1="83649" y1="54459" x2="80387" y2="47726"/>
                        <a14:backgroundMark x1="79459" y1="45811" x2="77795" y2="451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61833" flipH="1">
            <a:off x="2015723" y="6268082"/>
            <a:ext cx="627856" cy="69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A8BF21-E956-9F33-08B5-A93D4B4A7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091" y="4789737"/>
            <a:ext cx="1934497" cy="1934497"/>
          </a:xfrm>
          <a:prstGeom prst="roundRect">
            <a:avLst>
              <a:gd name="adj" fmla="val 8868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231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Ink Free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Xanlez ⠀</cp:lastModifiedBy>
  <cp:revision>3</cp:revision>
  <dcterms:created xsi:type="dcterms:W3CDTF">2013-01-27T09:14:16Z</dcterms:created>
  <dcterms:modified xsi:type="dcterms:W3CDTF">2026-05-27T06:58:00Z</dcterms:modified>
  <cp:category/>
</cp:coreProperties>
</file>